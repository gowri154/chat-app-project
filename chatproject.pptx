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4403" r:id="rId1"/>
  </p:sldMasterIdLst>
  <p:notesMasterIdLst>
    <p:notesMasterId r:id="rId14"/>
  </p:notesMasterIdLst>
  <p:sldIdLst>
    <p:sldId id="266" r:id="rId2"/>
    <p:sldId id="272" r:id="rId3"/>
    <p:sldId id="281" r:id="rId4"/>
    <p:sldId id="258" r:id="rId5"/>
    <p:sldId id="260" r:id="rId6"/>
    <p:sldId id="270" r:id="rId7"/>
    <p:sldId id="273" r:id="rId8"/>
    <p:sldId id="274" r:id="rId9"/>
    <p:sldId id="279" r:id="rId10"/>
    <p:sldId id="280" r:id="rId11"/>
    <p:sldId id="262" r:id="rId12"/>
    <p:sldId id="277" r:id="rId13"/>
  </p:sldIdLst>
  <p:sldSz cx="9144000" cy="5143500" type="screen16x9"/>
  <p:notesSz cx="6858000" cy="9144000"/>
  <p:embeddedFontLst>
    <p:embeddedFont>
      <p:font typeface="Raleway SemiBold" charset="0"/>
      <p:regular r:id="rId15"/>
      <p:bold r:id="rId16"/>
      <p:italic r:id="rId17"/>
      <p:boldItalic r:id="rId18"/>
    </p:embeddedFont>
    <p:embeddedFont>
      <p:font typeface="Trebuchet MS" pitchFamily="34" charset="0"/>
      <p:regular r:id="rId19"/>
      <p:bold r:id="rId20"/>
      <p:italic r:id="rId21"/>
      <p:boldItalic r:id="rId22"/>
    </p:embeddedFont>
    <p:embeddedFont>
      <p:font typeface="Wingdings 2" pitchFamily="18" charset="2"/>
      <p:regular r:id="rId2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xmlns="">
        <p14:section name="Default Section" id="{451D1E88-1102-441A-8A6C-898A1FCEEA85}">
          <p14:sldIdLst>
            <p14:sldId id="266"/>
            <p14:sldId id="257"/>
            <p14:sldId id="258"/>
            <p14:sldId id="267"/>
            <p14:sldId id="268"/>
            <p14:sldId id="260"/>
            <p14:sldId id="270"/>
            <p14:sldId id="262"/>
            <p14:sldId id="269"/>
          </p14:sldIdLst>
        </p14:section>
      </p14:sectionLst>
    </p:ext>
    <p:ext uri="{EFAFB233-063F-42B5-8137-9DF3F51BA10A}">
      <p15:sldGuideLst xmlns:p15="http://schemas.microsoft.com/office/powerpoint/2012/main" xmlns="">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161B60-E2A2-406B-82C8-A62D7111CAEC}" v="53" dt="2024-07-07T13:15:12.777"/>
  </p1510:revLst>
</p1510:revInfo>
</file>

<file path=ppt/tableStyles.xml><?xml version="1.0" encoding="utf-8"?>
<a:tblStyleLst xmlns:a="http://schemas.openxmlformats.org/drawingml/2006/main" def="{1EF2A259-E01F-45C0-9C48-C7958E619310}">
  <a:tblStyle styleId="{1EF2A259-E01F-45C0-9C48-C7958E61931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aximized">
    <p:restoredLeft sz="34587" autoAdjust="0"/>
    <p:restoredTop sz="94608" autoAdjust="0"/>
  </p:normalViewPr>
  <p:slideViewPr>
    <p:cSldViewPr snapToGrid="0">
      <p:cViewPr>
        <p:scale>
          <a:sx n="100" d="100"/>
          <a:sy n="100" d="100"/>
        </p:scale>
        <p:origin x="-802" y="-235"/>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2e90d240704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2e90d240704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e91de7a10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e91de7a10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e92e7fa4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e92e7fa4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xmlns="" val="20088636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e91de7a103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2e91de7a103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51435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Straight Connector 8"/>
          <p:cNvSpPr>
            <a:spLocks noChangeShapeType="1"/>
          </p:cNvSpPr>
          <p:nvPr/>
        </p:nvSpPr>
        <p:spPr bwMode="auto">
          <a:xfrm rot="16200000">
            <a:off x="95250" y="2571750"/>
            <a:ext cx="51435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Title 11"/>
          <p:cNvSpPr>
            <a:spLocks noGrp="1"/>
          </p:cNvSpPr>
          <p:nvPr>
            <p:ph type="ctrTitle"/>
          </p:nvPr>
        </p:nvSpPr>
        <p:spPr>
          <a:xfrm>
            <a:off x="3366868" y="400050"/>
            <a:ext cx="5105400" cy="2151126"/>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2654898"/>
            <a:ext cx="5114778" cy="825936"/>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4918459"/>
            <a:ext cx="2002464" cy="170177"/>
          </a:xfrm>
        </p:spPr>
        <p:txBody>
          <a:bodyPr/>
          <a:lstStyle>
            <a:lvl1pPr>
              <a:defRPr lang="en-US" smtClean="0">
                <a:solidFill>
                  <a:srgbClr val="FFFFFF"/>
                </a:solidFill>
              </a:defRPr>
            </a:lvl1pPr>
            <a:extLst/>
          </a:lstStyle>
          <a:p>
            <a:fld id="{81796F29-B607-4D2F-BF97-591A17F6400E}" type="datetime1">
              <a:rPr lang="en-US" smtClean="0"/>
              <a:pPr/>
              <a:t>2/9/2026</a:t>
            </a:fld>
            <a:endParaRPr lang="en-US" dirty="0"/>
          </a:p>
        </p:txBody>
      </p:sp>
      <p:sp>
        <p:nvSpPr>
          <p:cNvPr id="18" name="Footer Placeholder 17"/>
          <p:cNvSpPr>
            <a:spLocks noGrp="1"/>
          </p:cNvSpPr>
          <p:nvPr>
            <p:ph type="ftr" sz="quarter" idx="11"/>
          </p:nvPr>
        </p:nvSpPr>
        <p:spPr>
          <a:xfrm>
            <a:off x="2819400" y="4918460"/>
            <a:ext cx="2927722" cy="171450"/>
          </a:xfrm>
        </p:spPr>
        <p:txBody>
          <a:bodyPr/>
          <a:lstStyle>
            <a:lvl1pPr>
              <a:defRPr lang="en-US" dirty="0">
                <a:solidFill>
                  <a:srgbClr val="FFFFFF"/>
                </a:solidFill>
              </a:defRPr>
            </a:lvl1pPr>
            <a:extLst/>
          </a:lstStyle>
          <a:p>
            <a:r>
              <a:rPr lang="en-US" smtClean="0"/>
              <a:t>Zeroth Review</a:t>
            </a:r>
            <a:endParaRPr lang="en-US" dirty="0"/>
          </a:p>
        </p:txBody>
      </p:sp>
      <p:sp>
        <p:nvSpPr>
          <p:cNvPr id="29" name="Slide Number Placeholder 28"/>
          <p:cNvSpPr>
            <a:spLocks noGrp="1"/>
          </p:cNvSpPr>
          <p:nvPr>
            <p:ph type="sldNum" sz="quarter" idx="12"/>
          </p:nvPr>
        </p:nvSpPr>
        <p:spPr>
          <a:xfrm>
            <a:off x="7880884" y="4917186"/>
            <a:ext cx="588336" cy="171450"/>
          </a:xfrm>
        </p:spPr>
        <p:txBody>
          <a:bodyPr/>
          <a:lstStyle>
            <a:lvl1pPr>
              <a:defRPr lang="en-US" smtClean="0">
                <a:solidFill>
                  <a:srgbClr val="FFFFFF"/>
                </a:solidFill>
              </a:defRPr>
            </a:lvl1pPr>
            <a:extLst/>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0A95BB5-D46E-4F26-B09B-006B2F1A3933}" type="datetime1">
              <a:rPr lang="en-US" smtClean="0"/>
              <a:pPr/>
              <a:t>2/9/2026</a:t>
            </a:fld>
            <a:endParaRPr lang="en-US" dirty="0"/>
          </a:p>
        </p:txBody>
      </p:sp>
      <p:sp>
        <p:nvSpPr>
          <p:cNvPr id="5" name="Footer Placeholder 4"/>
          <p:cNvSpPr>
            <a:spLocks noGrp="1"/>
          </p:cNvSpPr>
          <p:nvPr>
            <p:ph type="ftr" sz="quarter" idx="11"/>
          </p:nvPr>
        </p:nvSpPr>
        <p:spPr/>
        <p:txBody>
          <a:bodyPr/>
          <a:lstStyle>
            <a:extLst/>
          </a:lstStyle>
          <a:p>
            <a:r>
              <a:rPr lang="en-US" smtClean="0"/>
              <a:t>Zeroth Review</a:t>
            </a:r>
            <a:endParaRPr lang="en-US" dirty="0"/>
          </a:p>
        </p:txBody>
      </p:sp>
      <p:sp>
        <p:nvSpPr>
          <p:cNvPr id="6" name="Slide Number Placeholder 5"/>
          <p:cNvSpPr>
            <a:spLocks noGrp="1"/>
          </p:cNvSpPr>
          <p:nvPr>
            <p:ph type="sldNum" sz="quarter" idx="12"/>
          </p:nvPr>
        </p:nvSpPr>
        <p:spPr/>
        <p:txBody>
          <a:bodyPr/>
          <a:lstStyle>
            <a:extLst/>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116378"/>
            <a:ext cx="6255488" cy="1021556"/>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428751"/>
            <a:ext cx="6255488" cy="557630"/>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4917607"/>
            <a:ext cx="2002464" cy="170177"/>
          </a:xfrm>
        </p:spPr>
        <p:txBody>
          <a:bodyPr bIns="0" anchor="b"/>
          <a:lstStyle>
            <a:lvl1pPr>
              <a:defRPr>
                <a:solidFill>
                  <a:schemeClr val="tx2"/>
                </a:solidFill>
              </a:defRPr>
            </a:lvl1pPr>
            <a:extLst/>
          </a:lstStyle>
          <a:p>
            <a:fld id="{210C9C45-34CD-48E9-81F8-29BCD5C0FF01}" type="datetime1">
              <a:rPr lang="en-US" smtClean="0"/>
              <a:pPr/>
              <a:t>2/9/2026</a:t>
            </a:fld>
            <a:endParaRPr lang="en-US" dirty="0"/>
          </a:p>
        </p:txBody>
      </p:sp>
      <p:sp>
        <p:nvSpPr>
          <p:cNvPr id="5" name="Footer Placeholder 4"/>
          <p:cNvSpPr>
            <a:spLocks noGrp="1"/>
          </p:cNvSpPr>
          <p:nvPr>
            <p:ph type="ftr" sz="quarter" idx="11"/>
          </p:nvPr>
        </p:nvSpPr>
        <p:spPr>
          <a:xfrm>
            <a:off x="1735358" y="4917608"/>
            <a:ext cx="2895600" cy="171450"/>
          </a:xfrm>
        </p:spPr>
        <p:txBody>
          <a:bodyPr bIns="0" anchor="b"/>
          <a:lstStyle>
            <a:lvl1pPr>
              <a:defRPr>
                <a:solidFill>
                  <a:schemeClr val="tx2"/>
                </a:solidFill>
              </a:defRPr>
            </a:lvl1pPr>
            <a:extLst/>
          </a:lstStyle>
          <a:p>
            <a:r>
              <a:rPr lang="en-US" smtClean="0"/>
              <a:t>Zeroth Review</a:t>
            </a:r>
            <a:endParaRPr lang="en-US" dirty="0"/>
          </a:p>
        </p:txBody>
      </p:sp>
      <p:sp>
        <p:nvSpPr>
          <p:cNvPr id="6" name="Slide Number Placeholder 5"/>
          <p:cNvSpPr>
            <a:spLocks noGrp="1"/>
          </p:cNvSpPr>
          <p:nvPr>
            <p:ph type="sldNum" sz="quarter" idx="12"/>
          </p:nvPr>
        </p:nvSpPr>
        <p:spPr>
          <a:xfrm>
            <a:off x="6733952" y="4916334"/>
            <a:ext cx="588336" cy="171450"/>
          </a:xfrm>
        </p:spPr>
        <p:txBody>
          <a:bodyPr/>
          <a:lstStyle>
            <a:extLst/>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40030"/>
            <a:ext cx="7242048" cy="85725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200151"/>
            <a:ext cx="3520440" cy="3394472"/>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200151"/>
            <a:ext cx="3520440" cy="3394472"/>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50CF0AD1-36CC-4B79-BE54-CA6FB0A92142}" type="datetime1">
              <a:rPr lang="en-US" smtClean="0"/>
              <a:pPr/>
              <a:t>2/9/2026</a:t>
            </a:fld>
            <a:endParaRPr lang="en-US" dirty="0"/>
          </a:p>
        </p:txBody>
      </p:sp>
      <p:sp>
        <p:nvSpPr>
          <p:cNvPr id="6" name="Footer Placeholder 5"/>
          <p:cNvSpPr>
            <a:spLocks noGrp="1"/>
          </p:cNvSpPr>
          <p:nvPr>
            <p:ph type="ftr" sz="quarter" idx="11"/>
          </p:nvPr>
        </p:nvSpPr>
        <p:spPr/>
        <p:txBody>
          <a:bodyPr/>
          <a:lstStyle>
            <a:extLst/>
          </a:lstStyle>
          <a:p>
            <a:r>
              <a:rPr lang="en-US" smtClean="0"/>
              <a:t>Zeroth Review</a:t>
            </a:r>
            <a:endParaRPr lang="en-US" dirty="0"/>
          </a:p>
        </p:txBody>
      </p:sp>
      <p:sp>
        <p:nvSpPr>
          <p:cNvPr id="7" name="Slide Number Placeholder 6"/>
          <p:cNvSpPr>
            <a:spLocks noGrp="1"/>
          </p:cNvSpPr>
          <p:nvPr>
            <p:ph type="sldNum" sz="quarter" idx="12"/>
          </p:nvPr>
        </p:nvSpPr>
        <p:spPr/>
        <p:txBody>
          <a:bodyPr/>
          <a:lstStyle>
            <a:extLst/>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40030"/>
            <a:ext cx="7242048" cy="85725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4400550"/>
            <a:ext cx="3520440" cy="3429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4400550"/>
            <a:ext cx="3520440" cy="3429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283880"/>
            <a:ext cx="3520440" cy="30861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283880"/>
            <a:ext cx="3520440" cy="30861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6C5C6DFB-962A-4532-AAAD-A950648AA164}" type="datetime1">
              <a:rPr lang="en-US" smtClean="0"/>
              <a:pPr/>
              <a:t>2/9/2026</a:t>
            </a:fld>
            <a:endParaRPr lang="en-US" dirty="0"/>
          </a:p>
        </p:txBody>
      </p:sp>
      <p:sp>
        <p:nvSpPr>
          <p:cNvPr id="8" name="Footer Placeholder 7"/>
          <p:cNvSpPr>
            <a:spLocks noGrp="1"/>
          </p:cNvSpPr>
          <p:nvPr>
            <p:ph type="ftr" sz="quarter" idx="11"/>
          </p:nvPr>
        </p:nvSpPr>
        <p:spPr/>
        <p:txBody>
          <a:bodyPr/>
          <a:lstStyle>
            <a:extLst/>
          </a:lstStyle>
          <a:p>
            <a:r>
              <a:rPr lang="en-US" smtClean="0"/>
              <a:t>Zeroth Review</a:t>
            </a:r>
            <a:endParaRPr lang="en-US" dirty="0"/>
          </a:p>
        </p:txBody>
      </p:sp>
      <p:sp>
        <p:nvSpPr>
          <p:cNvPr id="9" name="Slide Number Placeholder 8"/>
          <p:cNvSpPr>
            <a:spLocks noGrp="1"/>
          </p:cNvSpPr>
          <p:nvPr>
            <p:ph type="sldNum" sz="quarter" idx="12"/>
          </p:nvPr>
        </p:nvSpPr>
        <p:spPr/>
        <p:txBody>
          <a:bodyPr/>
          <a:lstStyle>
            <a:extLst/>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40030"/>
            <a:ext cx="7242048" cy="85725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0FA7FA3F-0A16-4B85-976D-63AF9CAC376C}" type="datetime1">
              <a:rPr lang="en-US" smtClean="0"/>
              <a:pPr/>
              <a:t>2/9/2026</a:t>
            </a:fld>
            <a:endParaRPr lang="en-US" dirty="0"/>
          </a:p>
        </p:txBody>
      </p:sp>
      <p:sp>
        <p:nvSpPr>
          <p:cNvPr id="4" name="Footer Placeholder 3"/>
          <p:cNvSpPr>
            <a:spLocks noGrp="1"/>
          </p:cNvSpPr>
          <p:nvPr>
            <p:ph type="ftr" sz="quarter" idx="11"/>
          </p:nvPr>
        </p:nvSpPr>
        <p:spPr/>
        <p:txBody>
          <a:bodyPr/>
          <a:lstStyle>
            <a:extLst/>
          </a:lstStyle>
          <a:p>
            <a:r>
              <a:rPr lang="en-US" smtClean="0"/>
              <a:t>Zeroth Review</a:t>
            </a:r>
            <a:endParaRPr lang="en-US" dirty="0"/>
          </a:p>
        </p:txBody>
      </p:sp>
      <p:sp>
        <p:nvSpPr>
          <p:cNvPr id="5" name="Slide Number Placeholder 4"/>
          <p:cNvSpPr>
            <a:spLocks noGrp="1"/>
          </p:cNvSpPr>
          <p:nvPr>
            <p:ph type="sldNum" sz="quarter" idx="12"/>
          </p:nvPr>
        </p:nvSpPr>
        <p:spPr/>
        <p:txBody>
          <a:bodyPr/>
          <a:lstStyle>
            <a:extLst/>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DBDD82AF-3EDC-4AAB-9BD5-3CB0819825BB}" type="datetime1">
              <a:rPr lang="en-US" smtClean="0"/>
              <a:pPr/>
              <a:t>2/9/2026</a:t>
            </a:fld>
            <a:endParaRPr lang="en-US" dirty="0"/>
          </a:p>
        </p:txBody>
      </p:sp>
      <p:sp>
        <p:nvSpPr>
          <p:cNvPr id="3" name="Footer Placeholder 2"/>
          <p:cNvSpPr>
            <a:spLocks noGrp="1"/>
          </p:cNvSpPr>
          <p:nvPr>
            <p:ph type="ftr" sz="quarter" idx="11"/>
          </p:nvPr>
        </p:nvSpPr>
        <p:spPr/>
        <p:txBody>
          <a:bodyPr/>
          <a:lstStyle>
            <a:lvl1pPr>
              <a:defRPr>
                <a:solidFill>
                  <a:schemeClr val="tx2"/>
                </a:solidFill>
              </a:defRPr>
            </a:lvl1pPr>
            <a:extLst/>
          </a:lstStyle>
          <a:p>
            <a:r>
              <a:rPr lang="en-US" smtClean="0"/>
              <a:t>Zeroth Review</a:t>
            </a:r>
            <a:endParaRPr lang="en-US" dirty="0"/>
          </a:p>
        </p:txBody>
      </p:sp>
      <p:sp>
        <p:nvSpPr>
          <p:cNvPr id="4" name="Slide Number Placeholder 3"/>
          <p:cNvSpPr>
            <a:spLocks noGrp="1"/>
          </p:cNvSpPr>
          <p:nvPr>
            <p:ph type="sldNum" sz="quarter" idx="12"/>
          </p:nvPr>
        </p:nvSpPr>
        <p:spPr/>
        <p:txBody>
          <a:bodyPr/>
          <a:lstStyle>
            <a:extLst/>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71450"/>
            <a:ext cx="5897880" cy="88011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123062"/>
            <a:ext cx="5897880" cy="451884"/>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600200"/>
            <a:ext cx="7239000" cy="3278814"/>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CB5E6C13-BDA9-45FD-9114-205001B395C3}" type="datetime1">
              <a:rPr lang="en-US" smtClean="0"/>
              <a:pPr/>
              <a:t>2/9/2026</a:t>
            </a:fld>
            <a:endParaRPr lang="en-US" dirty="0"/>
          </a:p>
        </p:txBody>
      </p:sp>
      <p:sp>
        <p:nvSpPr>
          <p:cNvPr id="6" name="Footer Placeholder 5"/>
          <p:cNvSpPr>
            <a:spLocks noGrp="1"/>
          </p:cNvSpPr>
          <p:nvPr>
            <p:ph type="ftr" sz="quarter" idx="11"/>
          </p:nvPr>
        </p:nvSpPr>
        <p:spPr/>
        <p:txBody>
          <a:bodyPr/>
          <a:lstStyle>
            <a:extLst/>
          </a:lstStyle>
          <a:p>
            <a:r>
              <a:rPr lang="en-US" smtClean="0"/>
              <a:t>Zeroth Review</a:t>
            </a:r>
            <a:endParaRPr lang="en-US" dirty="0"/>
          </a:p>
        </p:txBody>
      </p:sp>
      <p:sp>
        <p:nvSpPr>
          <p:cNvPr id="7" name="Slide Number Placeholder 6"/>
          <p:cNvSpPr>
            <a:spLocks noGrp="1"/>
          </p:cNvSpPr>
          <p:nvPr>
            <p:ph type="sldNum" sz="quarter" idx="12"/>
          </p:nvPr>
        </p:nvSpPr>
        <p:spPr/>
        <p:txBody>
          <a:bodyPr/>
          <a:lstStyle>
            <a:extLst/>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9" y="753501"/>
            <a:ext cx="4319527" cy="3234430"/>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a:xfrm rot="21420000">
            <a:off x="596707" y="749112"/>
            <a:ext cx="4319527" cy="3234430"/>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5389098" y="857250"/>
            <a:ext cx="3429000" cy="154305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2462726"/>
            <a:ext cx="3429000" cy="144018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39103BF7-C7FA-4FCF-BC9A-94218C70D7A8}" type="datetime1">
              <a:rPr lang="en-US" smtClean="0"/>
              <a:pPr/>
              <a:t>2/9/2026</a:t>
            </a:fld>
            <a:endParaRPr lang="en-US" dirty="0"/>
          </a:p>
        </p:txBody>
      </p:sp>
      <p:sp>
        <p:nvSpPr>
          <p:cNvPr id="6" name="Footer Placeholder 5"/>
          <p:cNvSpPr>
            <a:spLocks noGrp="1"/>
          </p:cNvSpPr>
          <p:nvPr>
            <p:ph type="ftr" sz="quarter" idx="11"/>
          </p:nvPr>
        </p:nvSpPr>
        <p:spPr/>
        <p:txBody>
          <a:bodyPr/>
          <a:lstStyle>
            <a:extLst/>
          </a:lstStyle>
          <a:p>
            <a:r>
              <a:rPr lang="en-US" smtClean="0"/>
              <a:t>Zeroth Review</a:t>
            </a:r>
            <a:endParaRPr lang="en-US" dirty="0"/>
          </a:p>
        </p:txBody>
      </p:sp>
      <p:sp>
        <p:nvSpPr>
          <p:cNvPr id="7" name="Slide Number Placeholder 6"/>
          <p:cNvSpPr>
            <a:spLocks noGrp="1"/>
          </p:cNvSpPr>
          <p:nvPr>
            <p:ph type="sldNum" sz="quarter" idx="12"/>
          </p:nvPr>
        </p:nvSpPr>
        <p:spPr/>
        <p:txBody>
          <a:bodyPr/>
          <a:lstStyle>
            <a:extLst/>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
        <p:nvSpPr>
          <p:cNvPr id="10" name="Picture Placeholder 9"/>
          <p:cNvSpPr>
            <a:spLocks noGrp="1"/>
          </p:cNvSpPr>
          <p:nvPr>
            <p:ph type="pic" idx="1"/>
          </p:nvPr>
        </p:nvSpPr>
        <p:spPr>
          <a:xfrm>
            <a:off x="663682" y="780752"/>
            <a:ext cx="4206240" cy="315468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EF949830-B701-45C2-B85A-1B405B6BAF81}" type="datetime1">
              <a:rPr lang="en-US" smtClean="0"/>
              <a:pPr/>
              <a:t>2/9/2026</a:t>
            </a:fld>
            <a:endParaRPr lang="en-US" dirty="0"/>
          </a:p>
        </p:txBody>
      </p:sp>
      <p:sp>
        <p:nvSpPr>
          <p:cNvPr id="5" name="Footer Placeholder 4"/>
          <p:cNvSpPr>
            <a:spLocks noGrp="1"/>
          </p:cNvSpPr>
          <p:nvPr>
            <p:ph type="ftr" sz="quarter" idx="11"/>
          </p:nvPr>
        </p:nvSpPr>
        <p:spPr/>
        <p:txBody>
          <a:bodyPr/>
          <a:lstStyle>
            <a:extLst/>
          </a:lstStyle>
          <a:p>
            <a:r>
              <a:rPr lang="en-US" smtClean="0"/>
              <a:t>Zeroth Review</a:t>
            </a:r>
            <a:endParaRPr lang="en-US" dirty="0"/>
          </a:p>
        </p:txBody>
      </p:sp>
      <p:sp>
        <p:nvSpPr>
          <p:cNvPr id="6" name="Slide Number Placeholder 5"/>
          <p:cNvSpPr>
            <a:spLocks noGrp="1"/>
          </p:cNvSpPr>
          <p:nvPr>
            <p:ph type="sldNum" sz="quarter" idx="12"/>
          </p:nvPr>
        </p:nvSpPr>
        <p:spPr/>
        <p:txBody>
          <a:bodyPr/>
          <a:lstStyle>
            <a:extLst/>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06217"/>
            <a:ext cx="1524000" cy="4388644"/>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05982"/>
            <a:ext cx="6019800" cy="4388644"/>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4918459"/>
            <a:ext cx="2002464" cy="170177"/>
          </a:xfrm>
        </p:spPr>
        <p:txBody>
          <a:bodyPr/>
          <a:lstStyle>
            <a:extLst/>
          </a:lstStyle>
          <a:p>
            <a:fld id="{97E23F3D-2908-4096-94B0-0419923213BB}" type="datetime1">
              <a:rPr lang="en-US" smtClean="0"/>
              <a:pPr/>
              <a:t>2/9/2026</a:t>
            </a:fld>
            <a:endParaRPr lang="en-US" dirty="0"/>
          </a:p>
        </p:txBody>
      </p:sp>
      <p:sp>
        <p:nvSpPr>
          <p:cNvPr id="5" name="Footer Placeholder 4"/>
          <p:cNvSpPr>
            <a:spLocks noGrp="1"/>
          </p:cNvSpPr>
          <p:nvPr>
            <p:ph type="ftr" sz="quarter" idx="11"/>
          </p:nvPr>
        </p:nvSpPr>
        <p:spPr>
          <a:xfrm>
            <a:off x="457200" y="4917186"/>
            <a:ext cx="3657600" cy="171450"/>
          </a:xfrm>
        </p:spPr>
        <p:txBody>
          <a:bodyPr/>
          <a:lstStyle>
            <a:extLst/>
          </a:lstStyle>
          <a:p>
            <a:r>
              <a:rPr lang="en-US" smtClean="0"/>
              <a:t>Zeroth Review</a:t>
            </a:r>
            <a:endParaRPr lang="en-US" dirty="0"/>
          </a:p>
        </p:txBody>
      </p:sp>
      <p:sp>
        <p:nvSpPr>
          <p:cNvPr id="6" name="Slide Number Placeholder 5"/>
          <p:cNvSpPr>
            <a:spLocks noGrp="1"/>
          </p:cNvSpPr>
          <p:nvPr>
            <p:ph type="sldNum" sz="quarter" idx="12"/>
          </p:nvPr>
        </p:nvSpPr>
        <p:spPr>
          <a:xfrm>
            <a:off x="6254496" y="4914900"/>
            <a:ext cx="588336" cy="171450"/>
          </a:xfrm>
        </p:spPr>
        <p:txBody>
          <a:bodyPr/>
          <a:lstStyle>
            <a:lvl1pPr>
              <a:defRPr>
                <a:solidFill>
                  <a:schemeClr val="tx2"/>
                </a:solidFill>
              </a:defRPr>
            </a:lvl1pPr>
            <a:extLst/>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51435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Title Placeholder 2"/>
          <p:cNvSpPr>
            <a:spLocks noGrp="1"/>
          </p:cNvSpPr>
          <p:nvPr>
            <p:ph type="title"/>
          </p:nvPr>
        </p:nvSpPr>
        <p:spPr>
          <a:xfrm>
            <a:off x="457200" y="240030"/>
            <a:ext cx="7239000" cy="85725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207062"/>
            <a:ext cx="7239000" cy="363474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4918459"/>
            <a:ext cx="2002464" cy="170177"/>
          </a:xfrm>
          <a:prstGeom prst="rect">
            <a:avLst/>
          </a:prstGeom>
        </p:spPr>
        <p:txBody>
          <a:bodyPr vert="horz" tIns="0" bIns="0" anchor="b"/>
          <a:lstStyle>
            <a:lvl1pPr algn="l" eaLnBrk="1" latinLnBrk="0" hangingPunct="1">
              <a:defRPr kumimoji="0" sz="1000">
                <a:solidFill>
                  <a:schemeClr val="tx2"/>
                </a:solidFill>
              </a:defRPr>
            </a:lvl1pPr>
            <a:extLst/>
          </a:lstStyle>
          <a:p>
            <a:fld id="{AD698205-1525-45EE-9BAD-93096E45C850}" type="datetime1">
              <a:rPr lang="en-US" smtClean="0"/>
              <a:pPr/>
              <a:t>2/9/2026</a:t>
            </a:fld>
            <a:endParaRPr lang="en-US" dirty="0"/>
          </a:p>
        </p:txBody>
      </p:sp>
      <p:sp>
        <p:nvSpPr>
          <p:cNvPr id="4" name="Footer Placeholder 3"/>
          <p:cNvSpPr>
            <a:spLocks noGrp="1"/>
          </p:cNvSpPr>
          <p:nvPr>
            <p:ph type="ftr" sz="quarter" idx="3"/>
          </p:nvPr>
        </p:nvSpPr>
        <p:spPr>
          <a:xfrm>
            <a:off x="457200" y="4918460"/>
            <a:ext cx="3657600" cy="171450"/>
          </a:xfrm>
          <a:prstGeom prst="rect">
            <a:avLst/>
          </a:prstGeom>
        </p:spPr>
        <p:txBody>
          <a:bodyPr vert="horz" tIns="0" bIns="0" anchor="b"/>
          <a:lstStyle>
            <a:lvl1pPr algn="r" eaLnBrk="1" latinLnBrk="0" hangingPunct="1">
              <a:defRPr kumimoji="0" sz="1000">
                <a:solidFill>
                  <a:schemeClr val="tx2"/>
                </a:solidFill>
              </a:defRPr>
            </a:lvl1pPr>
            <a:extLst/>
          </a:lstStyle>
          <a:p>
            <a:r>
              <a:rPr lang="en-US" smtClean="0"/>
              <a:t>Zeroth Review</a:t>
            </a:r>
            <a:endParaRPr lang="en-US" dirty="0"/>
          </a:p>
        </p:txBody>
      </p:sp>
      <p:sp>
        <p:nvSpPr>
          <p:cNvPr id="16" name="Slide Number Placeholder 15"/>
          <p:cNvSpPr>
            <a:spLocks noGrp="1"/>
          </p:cNvSpPr>
          <p:nvPr>
            <p:ph type="sldNum" sz="quarter" idx="4"/>
          </p:nvPr>
        </p:nvSpPr>
        <p:spPr>
          <a:xfrm>
            <a:off x="6251448" y="4917186"/>
            <a:ext cx="588336" cy="171450"/>
          </a:xfrm>
          <a:prstGeom prst="rect">
            <a:avLst/>
          </a:prstGeom>
        </p:spPr>
        <p:txBody>
          <a:bodyPr vert="horz" lIns="0" tIns="0" rIns="0" bIns="0" anchor="b"/>
          <a:lstStyle>
            <a:lvl1pPr algn="r" eaLnBrk="1" latinLnBrk="0" hangingPunct="1">
              <a:defRPr kumimoji="0" sz="1100">
                <a:solidFill>
                  <a:schemeClr val="tx2"/>
                </a:solidFill>
              </a:defRPr>
            </a:lvl1pPr>
            <a:extLst/>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a:t>
            </a:fld>
            <a:endParaRPr lang="en"/>
          </a:p>
        </p:txBody>
      </p:sp>
    </p:spTree>
  </p:cSld>
  <p:clrMap bg1="lt1" tx1="dk1" bg2="lt2" tx2="dk2" accent1="accent1" accent2="accent2" accent3="accent3" accent4="accent4" accent5="accent5" accent6="accent6" hlink="hlink" folHlink="folHlink"/>
  <p:sldLayoutIdLst>
    <p:sldLayoutId id="2147484404" r:id="rId1"/>
    <p:sldLayoutId id="2147484405" r:id="rId2"/>
    <p:sldLayoutId id="2147484406" r:id="rId3"/>
    <p:sldLayoutId id="2147484407" r:id="rId4"/>
    <p:sldLayoutId id="2147484408" r:id="rId5"/>
    <p:sldLayoutId id="2147484409" r:id="rId6"/>
    <p:sldLayoutId id="2147484410" r:id="rId7"/>
    <p:sldLayoutId id="2147484411" r:id="rId8"/>
    <p:sldLayoutId id="2147484412" r:id="rId9"/>
    <p:sldLayoutId id="2147484413" r:id="rId10"/>
    <p:sldLayoutId id="2147484414" r:id="rId11"/>
  </p:sldLayoutIdLst>
  <p:hf hdr="0"/>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2;p13">
            <a:extLst>
              <a:ext uri="{FF2B5EF4-FFF2-40B4-BE49-F238E27FC236}">
                <a16:creationId xmlns:a16="http://schemas.microsoft.com/office/drawing/2014/main" xmlns="" id="{7A047EF1-4DA5-1536-5754-AE846060E092}"/>
              </a:ext>
            </a:extLst>
          </p:cNvPr>
          <p:cNvSpPr txBox="1">
            <a:spLocks/>
          </p:cNvSpPr>
          <p:nvPr/>
        </p:nvSpPr>
        <p:spPr>
          <a:xfrm>
            <a:off x="228600" y="726742"/>
            <a:ext cx="8735291" cy="1254458"/>
          </a:xfrm>
          <a:prstGeom prst="rect">
            <a:avLst/>
          </a:prstGeom>
        </p:spPr>
        <p:txBody>
          <a:bodyPr spcFirstLastPara="1" wrap="square" lIns="91425" tIns="91425" rIns="91425" bIns="91425" anchor="t" anchorCtr="0">
            <a:noAutofit/>
          </a:bodyPr>
          <a:lst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a:lstStyle>
          <a:p>
            <a:pPr marL="271463" indent="-271463" algn="ctr">
              <a:spcBef>
                <a:spcPts val="0"/>
              </a:spcBef>
            </a:pPr>
            <a:r>
              <a:rPr lang="en-IN" sz="3200" b="1" dirty="0" smtClean="0">
                <a:solidFill>
                  <a:schemeClr val="tx1"/>
                </a:solidFill>
                <a:latin typeface="Times New Roman" pitchFamily="18" charset="0"/>
                <a:cs typeface="Times New Roman" pitchFamily="18" charset="0"/>
              </a:rPr>
              <a:t>PROJECT TITLE</a:t>
            </a:r>
          </a:p>
          <a:p>
            <a:pPr marL="271463" indent="-271463" algn="ctr">
              <a:spcBef>
                <a:spcPts val="0"/>
              </a:spcBef>
            </a:pPr>
            <a:r>
              <a:rPr lang="en-IN" sz="3200" b="1" dirty="0" smtClean="0">
                <a:solidFill>
                  <a:schemeClr val="tx1"/>
                </a:solidFill>
                <a:latin typeface="Times New Roman" pitchFamily="18" charset="0"/>
                <a:cs typeface="Times New Roman" pitchFamily="18" charset="0"/>
              </a:rPr>
              <a:t>FARMER GOVERNMENT AIDED SCHEMES</a:t>
            </a:r>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5" name="Google Shape;74;p13">
            <a:extLst>
              <a:ext uri="{FF2B5EF4-FFF2-40B4-BE49-F238E27FC236}">
                <a16:creationId xmlns:a16="http://schemas.microsoft.com/office/drawing/2014/main" xmlns="" id="{3DB217FF-6B80-7C7D-C8C7-46FFCE194446}"/>
              </a:ext>
            </a:extLst>
          </p:cNvPr>
          <p:cNvSpPr txBox="1">
            <a:spLocks/>
          </p:cNvSpPr>
          <p:nvPr/>
        </p:nvSpPr>
        <p:spPr>
          <a:xfrm>
            <a:off x="0" y="69742"/>
            <a:ext cx="9144000" cy="1047568"/>
          </a:xfrm>
          <a:prstGeom prst="rect">
            <a:avLst/>
          </a:prstGeom>
        </p:spPr>
        <p:txBody>
          <a:bodyPr spcFirstLastPara="1" vert="horz" wrap="square" lIns="91425" tIns="91425" rIns="91425" bIns="91425" rtlCol="0" anchor="t" anchorCtr="0">
            <a:noAutofit/>
          </a:bodyPr>
          <a:lst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a:lstStyle>
          <a:p>
            <a:pPr marR="619760" algn="ctr">
              <a:lnSpc>
                <a:spcPct val="107000"/>
              </a:lnSpc>
              <a:spcAft>
                <a:spcPts val="1270"/>
              </a:spcAft>
            </a:pPr>
            <a:r>
              <a:rPr lang="en-US" sz="2500" dirty="0">
                <a:latin typeface="Times New Roman" panose="02020603050405020304" pitchFamily="18" charset="0"/>
                <a:cs typeface="Times New Roman" panose="02020603050405020304" pitchFamily="18" charset="0"/>
              </a:rPr>
              <a:t>         </a:t>
            </a:r>
          </a:p>
        </p:txBody>
      </p:sp>
      <p:sp>
        <p:nvSpPr>
          <p:cNvPr id="6" name="Google Shape;73;p13">
            <a:extLst>
              <a:ext uri="{FF2B5EF4-FFF2-40B4-BE49-F238E27FC236}">
                <a16:creationId xmlns:a16="http://schemas.microsoft.com/office/drawing/2014/main" xmlns="" id="{C16D2A13-7CBC-7DC8-B486-4FCE96D508E4}"/>
              </a:ext>
            </a:extLst>
          </p:cNvPr>
          <p:cNvSpPr txBox="1"/>
          <p:nvPr/>
        </p:nvSpPr>
        <p:spPr>
          <a:xfrm>
            <a:off x="498764" y="3277981"/>
            <a:ext cx="8442776" cy="1328655"/>
          </a:xfrm>
          <a:prstGeom prst="rect">
            <a:avLst/>
          </a:prstGeom>
          <a:noFill/>
          <a:ln>
            <a:noFill/>
          </a:ln>
        </p:spPr>
        <p:txBody>
          <a:bodyPr spcFirstLastPara="1" wrap="square" lIns="91425" tIns="91425" rIns="91425" bIns="91425" anchor="t" anchorCtr="0">
            <a:noAutofit/>
          </a:bodyPr>
          <a:lstStyle/>
          <a:p>
            <a:pPr lvl="7"/>
            <a:endParaRPr lang="en" sz="1400" dirty="0" smtClean="0">
              <a:latin typeface="Times New Roman" pitchFamily="18" charset="0"/>
              <a:ea typeface="Raleway Medium"/>
              <a:cs typeface="Times New Roman" pitchFamily="18" charset="0"/>
              <a:sym typeface="Raleway Medium"/>
            </a:endParaRPr>
          </a:p>
        </p:txBody>
      </p:sp>
      <p:sp>
        <p:nvSpPr>
          <p:cNvPr id="7" name="Google Shape;75;p13">
            <a:extLst>
              <a:ext uri="{FF2B5EF4-FFF2-40B4-BE49-F238E27FC236}">
                <a16:creationId xmlns:a16="http://schemas.microsoft.com/office/drawing/2014/main" xmlns="" id="{695DBF9B-4608-E10B-F41D-2E5023159673}"/>
              </a:ext>
            </a:extLst>
          </p:cNvPr>
          <p:cNvSpPr txBox="1"/>
          <p:nvPr/>
        </p:nvSpPr>
        <p:spPr>
          <a:xfrm>
            <a:off x="0" y="1323109"/>
            <a:ext cx="9143999" cy="1066289"/>
          </a:xfrm>
          <a:prstGeom prst="rect">
            <a:avLst/>
          </a:prstGeom>
          <a:noFill/>
          <a:ln>
            <a:noFill/>
          </a:ln>
        </p:spPr>
        <p:txBody>
          <a:bodyPr spcFirstLastPara="1" wrap="square" lIns="91425" tIns="91425" rIns="91425" bIns="91425" anchor="t" anchorCtr="0">
            <a:noAutofit/>
          </a:bodyPr>
          <a:lstStyle/>
          <a:p>
            <a:pPr marL="4214813" lvl="0" indent="-4214813" algn="ctr" rtl="0">
              <a:spcBef>
                <a:spcPts val="0"/>
              </a:spcBef>
              <a:spcAft>
                <a:spcPts val="0"/>
              </a:spcAft>
              <a:buNone/>
            </a:pPr>
            <a:endParaRPr sz="2000" dirty="0">
              <a:solidFill>
                <a:schemeClr val="lt1"/>
              </a:solidFill>
              <a:latin typeface="Raleway SemiBold"/>
              <a:ea typeface="Raleway SemiBold"/>
              <a:cs typeface="Raleway SemiBold"/>
              <a:sym typeface="Raleway SemiBold"/>
            </a:endParaRPr>
          </a:p>
        </p:txBody>
      </p:sp>
      <p:sp>
        <p:nvSpPr>
          <p:cNvPr id="10" name="TextBox 9"/>
          <p:cNvSpPr txBox="1"/>
          <p:nvPr/>
        </p:nvSpPr>
        <p:spPr>
          <a:xfrm>
            <a:off x="2701637" y="2306782"/>
            <a:ext cx="4619431" cy="923330"/>
          </a:xfrm>
          <a:prstGeom prst="rect">
            <a:avLst/>
          </a:prstGeom>
          <a:noFill/>
        </p:spPr>
        <p:txBody>
          <a:bodyPr wrap="square" rtlCol="0">
            <a:spAutoFit/>
          </a:bodyPr>
          <a:lstStyle/>
          <a:p>
            <a:r>
              <a:rPr lang="en-US" dirty="0" smtClean="0">
                <a:latin typeface="Times New Roman" pitchFamily="18" charset="0"/>
                <a:cs typeface="Times New Roman" pitchFamily="18" charset="0"/>
              </a:rPr>
              <a:t>BY</a:t>
            </a:r>
          </a:p>
          <a:p>
            <a:r>
              <a:rPr lang="en-US" dirty="0" smtClean="0">
                <a:latin typeface="Times New Roman" pitchFamily="18" charset="0"/>
                <a:cs typeface="Times New Roman" pitchFamily="18" charset="0"/>
              </a:rPr>
              <a:t>Name:  </a:t>
            </a:r>
            <a:r>
              <a:rPr lang="en-US" dirty="0" err="1" smtClean="0">
                <a:latin typeface="Times New Roman" pitchFamily="18" charset="0"/>
                <a:cs typeface="Times New Roman" pitchFamily="18" charset="0"/>
              </a:rPr>
              <a:t>Gowri</a:t>
            </a:r>
            <a:r>
              <a:rPr lang="en-US" dirty="0" smtClean="0">
                <a:latin typeface="Times New Roman" pitchFamily="18" charset="0"/>
                <a:cs typeface="Times New Roman" pitchFamily="18" charset="0"/>
              </a:rPr>
              <a:t> R</a:t>
            </a:r>
          </a:p>
          <a:p>
            <a:r>
              <a:rPr lang="en-US" dirty="0" smtClean="0">
                <a:latin typeface="Times New Roman" pitchFamily="18" charset="0"/>
                <a:cs typeface="Times New Roman" pitchFamily="18" charset="0"/>
              </a:rPr>
              <a:t>UNID:  UMID02122572656 </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xmlns="" val="7269353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2</a:t>
            </a:fld>
            <a:endParaRPr lang="en"/>
          </a:p>
        </p:txBody>
      </p:sp>
      <p:sp>
        <p:nvSpPr>
          <p:cNvPr id="5" name="Rectangle 4"/>
          <p:cNvSpPr/>
          <p:nvPr/>
        </p:nvSpPr>
        <p:spPr>
          <a:xfrm>
            <a:off x="678873" y="491837"/>
            <a:ext cx="4800600" cy="584775"/>
          </a:xfrm>
          <a:prstGeom prst="rect">
            <a:avLst/>
          </a:prstGeom>
        </p:spPr>
        <p:txBody>
          <a:bodyPr wrap="square">
            <a:spAutoFit/>
          </a:bodyPr>
          <a:lstStyle/>
          <a:p>
            <a:r>
              <a:rPr lang="en-IN" sz="3200" dirty="0" smtClean="0">
                <a:latin typeface="Times New Roman" pitchFamily="18" charset="0"/>
                <a:cs typeface="Times New Roman" pitchFamily="18" charset="0"/>
              </a:rPr>
              <a:t>Contents Outline</a:t>
            </a:r>
            <a:endParaRPr lang="en-US" sz="3200" dirty="0"/>
          </a:p>
        </p:txBody>
      </p:sp>
      <p:sp>
        <p:nvSpPr>
          <p:cNvPr id="6" name="Rectangle 5"/>
          <p:cNvSpPr/>
          <p:nvPr/>
        </p:nvSpPr>
        <p:spPr>
          <a:xfrm>
            <a:off x="879762" y="1087582"/>
            <a:ext cx="3872345" cy="3416320"/>
          </a:xfrm>
          <a:prstGeom prst="rect">
            <a:avLst/>
          </a:prstGeom>
        </p:spPr>
        <p:txBody>
          <a:bodyPr wrap="square">
            <a:spAutoFit/>
          </a:bodyPr>
          <a:lstStyle/>
          <a:p>
            <a:pPr>
              <a:lnSpc>
                <a:spcPct val="150000"/>
              </a:lnSpc>
              <a:buFont typeface="Arial" pitchFamily="34" charset="0"/>
              <a:buChar char="•"/>
            </a:pPr>
            <a:r>
              <a:rPr lang="en-IN" dirty="0" smtClean="0">
                <a:latin typeface="Times New Roman" pitchFamily="18" charset="0"/>
                <a:cs typeface="Times New Roman" pitchFamily="18" charset="0"/>
              </a:rPr>
              <a:t> Abstract</a:t>
            </a:r>
          </a:p>
          <a:p>
            <a:pPr>
              <a:lnSpc>
                <a:spcPct val="150000"/>
              </a:lnSpc>
              <a:buFont typeface="Arial" pitchFamily="34" charset="0"/>
              <a:buChar char="•"/>
            </a:pPr>
            <a:r>
              <a:rPr lang="en-IN" dirty="0" smtClean="0">
                <a:latin typeface="Times New Roman" pitchFamily="18" charset="0"/>
                <a:cs typeface="Times New Roman" pitchFamily="18" charset="0"/>
              </a:rPr>
              <a:t> Introduction </a:t>
            </a:r>
          </a:p>
          <a:p>
            <a:pPr>
              <a:lnSpc>
                <a:spcPct val="150000"/>
              </a:lnSpc>
              <a:buFont typeface="Arial" pitchFamily="34" charset="0"/>
              <a:buChar char="•"/>
            </a:pPr>
            <a:r>
              <a:rPr lang="en-IN" dirty="0" smtClean="0">
                <a:latin typeface="Times New Roman" pitchFamily="18" charset="0"/>
                <a:cs typeface="Times New Roman" pitchFamily="18" charset="0"/>
              </a:rPr>
              <a:t> Proposed Methodology</a:t>
            </a:r>
          </a:p>
          <a:p>
            <a:pPr>
              <a:lnSpc>
                <a:spcPct val="150000"/>
              </a:lnSpc>
              <a:buFont typeface="Arial" pitchFamily="34" charset="0"/>
              <a:buChar char="•"/>
            </a:pPr>
            <a:r>
              <a:rPr lang="en-IN" dirty="0" smtClean="0">
                <a:latin typeface="Times New Roman" pitchFamily="18" charset="0"/>
                <a:cs typeface="Times New Roman" pitchFamily="18" charset="0"/>
              </a:rPr>
              <a:t> Flow Diagram</a:t>
            </a:r>
          </a:p>
          <a:p>
            <a:pPr>
              <a:lnSpc>
                <a:spcPct val="150000"/>
              </a:lnSpc>
              <a:buFont typeface="Arial" pitchFamily="34" charset="0"/>
              <a:buChar char="•"/>
            </a:pPr>
            <a:r>
              <a:rPr lang="en-IN" dirty="0" smtClean="0">
                <a:latin typeface="Times New Roman" pitchFamily="18" charset="0"/>
                <a:cs typeface="Times New Roman" pitchFamily="18" charset="0"/>
              </a:rPr>
              <a:t> Software Tools Used</a:t>
            </a:r>
          </a:p>
          <a:p>
            <a:pPr>
              <a:lnSpc>
                <a:spcPct val="150000"/>
              </a:lnSpc>
              <a:buFont typeface="Arial" pitchFamily="34" charset="0"/>
              <a:buChar char="•"/>
            </a:pPr>
            <a:r>
              <a:rPr lang="en-IN" dirty="0" smtClean="0">
                <a:latin typeface="Times New Roman" pitchFamily="18" charset="0"/>
                <a:cs typeface="Times New Roman" pitchFamily="18" charset="0"/>
              </a:rPr>
              <a:t> Expected Output</a:t>
            </a:r>
          </a:p>
          <a:p>
            <a:pPr>
              <a:lnSpc>
                <a:spcPct val="150000"/>
              </a:lnSpc>
              <a:buFont typeface="Arial" pitchFamily="34" charset="0"/>
              <a:buChar char="•"/>
            </a:pPr>
            <a:r>
              <a:rPr lang="en-IN" dirty="0" smtClean="0">
                <a:latin typeface="Times New Roman" pitchFamily="18" charset="0"/>
                <a:cs typeface="Times New Roman" pitchFamily="18" charset="0"/>
              </a:rPr>
              <a:t> Conclusion</a:t>
            </a:r>
          </a:p>
          <a:p>
            <a:pPr>
              <a:lnSpc>
                <a:spcPct val="150000"/>
              </a:lnSpc>
            </a:pPr>
            <a:endParaRPr lang="en-IN"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solidFill>
                  <a:schemeClr val="tx1"/>
                </a:solidFill>
                <a:latin typeface="Times New Roman" pitchFamily="18" charset="0"/>
                <a:cs typeface="Times New Roman" pitchFamily="18" charset="0"/>
              </a:rPr>
              <a:t>Abstract</a:t>
            </a:r>
            <a:endParaRPr lang="en-US" sz="4000"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025236"/>
            <a:ext cx="8229600" cy="3706784"/>
          </a:xfrm>
        </p:spPr>
        <p:txBody>
          <a:bodyPr>
            <a:noAutofit/>
          </a:bodyPr>
          <a:lstStyle/>
          <a:p>
            <a:pPr algn="just">
              <a:lnSpc>
                <a:spcPct val="150000"/>
              </a:lnSpc>
              <a:buNone/>
            </a:pPr>
            <a:r>
              <a:rPr lang="en-US" sz="1200" dirty="0" smtClean="0">
                <a:latin typeface="Times New Roman" pitchFamily="18" charset="0"/>
                <a:cs typeface="Times New Roman" pitchFamily="18" charset="0"/>
              </a:rPr>
              <a:t>       This </a:t>
            </a:r>
            <a:r>
              <a:rPr lang="en-US" sz="1200" dirty="0" smtClean="0">
                <a:latin typeface="Times New Roman" pitchFamily="18" charset="0"/>
                <a:cs typeface="Times New Roman" pitchFamily="18" charset="0"/>
              </a:rPr>
              <a:t>project focuses on the design and development of a real-time web-based chat application using HTML, CSS, and JavaScript. The primary objective is to provide users with a smooth and interactive communication platform where they can join chat rooms and exchange messages instantly. The application implements </a:t>
            </a:r>
            <a:r>
              <a:rPr lang="en-US" sz="1200" dirty="0" err="1" smtClean="0">
                <a:latin typeface="Times New Roman" pitchFamily="18" charset="0"/>
                <a:cs typeface="Times New Roman" pitchFamily="18" charset="0"/>
              </a:rPr>
              <a:t>WebSocket</a:t>
            </a:r>
            <a:r>
              <a:rPr lang="en-US" sz="1200" dirty="0" smtClean="0">
                <a:latin typeface="Times New Roman" pitchFamily="18" charset="0"/>
                <a:cs typeface="Times New Roman" pitchFamily="18" charset="0"/>
              </a:rPr>
              <a:t> technology to enable real-time message delivery without page refreshes. Users are required to authenticate themselves by selecting a unique username before entering a chat room, ensuring secure and identifiable communication. The system allows users to create new chat rooms or join existing ones dynamically. Each chat room displays messages with sender identification and timestamps to maintain clarity and context. Basic text formatting features such as bold, italics, and clickable links enhance message readability. The user interface is designed to be intuitive, visually appealing, and responsive across various screen sizes. Additional features like automatic message scrolling and new message notifications improve user experience. The application also handles edge cases such as empty messages, invalid usernames, and user disconnections. Security and data validation measures are applied to prevent impersonation and misuse. </a:t>
            </a:r>
            <a:endParaRPr lang="en-US" sz="1200"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normAutofit/>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3</a:t>
            </a:fld>
            <a:endParaRPr lang="e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xmlns="" id="{A1C87E9B-2B25-42B6-C7CE-1D27BF6101DA}"/>
              </a:ext>
            </a:extLst>
          </p:cNvPr>
          <p:cNvSpPr>
            <a:spLocks noGrp="1"/>
          </p:cNvSpPr>
          <p:nvPr>
            <p:ph type="sldNum" sz="quarter" idx="12"/>
          </p:nvPr>
        </p:nvSpPr>
        <p:spPr/>
        <p:txBody>
          <a:bodyPr>
            <a:normAutofit/>
          </a:bodyPr>
          <a:lstStyle/>
          <a:p>
            <a:pPr marL="0" lvl="0" indent="0" algn="r" rtl="0">
              <a:spcBef>
                <a:spcPts val="0"/>
              </a:spcBef>
              <a:spcAft>
                <a:spcPts val="0"/>
              </a:spcAft>
              <a:buNone/>
            </a:pPr>
            <a:fld id="{00000000-1234-1234-1234-123412341234}" type="slidenum">
              <a:rPr lang="en" smtClean="0">
                <a:latin typeface="Times New Roman" panose="02020603050405020304" pitchFamily="18" charset="0"/>
                <a:cs typeface="Times New Roman" panose="02020603050405020304" pitchFamily="18" charset="0"/>
              </a:rPr>
              <a:pPr marL="0" lvl="0" indent="0" algn="r" rtl="0">
                <a:spcBef>
                  <a:spcPts val="0"/>
                </a:spcBef>
                <a:spcAft>
                  <a:spcPts val="0"/>
                </a:spcAft>
                <a:buNone/>
              </a:pPr>
              <a:t>4</a:t>
            </a:fld>
            <a:endParaRPr lang="en">
              <a:latin typeface="Times New Roman" panose="02020603050405020304" pitchFamily="18" charset="0"/>
              <a:cs typeface="Times New Roman" panose="02020603050405020304" pitchFamily="18" charset="0"/>
            </a:endParaRPr>
          </a:p>
        </p:txBody>
      </p:sp>
      <p:sp>
        <p:nvSpPr>
          <p:cNvPr id="86" name="Google Shape;86;p15"/>
          <p:cNvSpPr txBox="1">
            <a:spLocks noGrp="1"/>
          </p:cNvSpPr>
          <p:nvPr>
            <p:ph type="title" idx="4294967295"/>
          </p:nvPr>
        </p:nvSpPr>
        <p:spPr>
          <a:xfrm>
            <a:off x="373380" y="188913"/>
            <a:ext cx="5603558" cy="663575"/>
          </a:xfrm>
        </p:spPr>
        <p:txBody>
          <a:bodyPr spcFirstLastPara="1" wrap="square" lIns="91425" tIns="91425" rIns="91425" bIns="91425" anchor="t" anchorCtr="0">
            <a:noAutofit/>
          </a:bodyPr>
          <a:lstStyle/>
          <a:p>
            <a:pPr lvl="0"/>
            <a:r>
              <a:rPr lang="en-IN" sz="4000" dirty="0">
                <a:solidFill>
                  <a:schemeClr val="tx1"/>
                </a:solidFill>
                <a:latin typeface="Times New Roman" pitchFamily="18" charset="0"/>
                <a:cs typeface="Times New Roman" pitchFamily="18" charset="0"/>
              </a:rPr>
              <a:t>Introduction</a:t>
            </a:r>
            <a:r>
              <a:rPr lang="en-IN" sz="4000" dirty="0">
                <a:latin typeface="Times New Roman" pitchFamily="18" charset="0"/>
                <a:cs typeface="Times New Roman" pitchFamily="18" charset="0"/>
              </a:rPr>
              <a:t/>
            </a:r>
            <a:br>
              <a:rPr lang="en-IN" sz="4000" dirty="0">
                <a:latin typeface="Times New Roman" pitchFamily="18" charset="0"/>
                <a:cs typeface="Times New Roman" pitchFamily="18" charset="0"/>
              </a:rPr>
            </a:br>
            <a:r>
              <a:rPr lang="en-IN" sz="4000" dirty="0">
                <a:latin typeface="Times New Roman" pitchFamily="18" charset="0"/>
                <a:cs typeface="Times New Roman" pitchFamily="18" charset="0"/>
              </a:rPr>
              <a:t/>
            </a:r>
            <a:br>
              <a:rPr lang="en-IN" sz="4000" dirty="0">
                <a:latin typeface="Times New Roman" pitchFamily="18" charset="0"/>
                <a:cs typeface="Times New Roman" pitchFamily="18" charset="0"/>
              </a:rPr>
            </a:br>
            <a:endParaRPr lang="en-IN" sz="4000" dirty="0">
              <a:latin typeface="Times New Roman" pitchFamily="18" charset="0"/>
              <a:cs typeface="Times New Roman" pitchFamily="18" charset="0"/>
            </a:endParaRPr>
          </a:p>
        </p:txBody>
      </p:sp>
      <p:sp>
        <p:nvSpPr>
          <p:cNvPr id="18" name="Rectangle 3">
            <a:extLst>
              <a:ext uri="{FF2B5EF4-FFF2-40B4-BE49-F238E27FC236}">
                <a16:creationId xmlns:a16="http://schemas.microsoft.com/office/drawing/2014/main" xmlns="" id="{6183E721-A8F2-74F2-7002-0C329251D840}"/>
              </a:ext>
            </a:extLst>
          </p:cNvPr>
          <p:cNvSpPr txBox="1">
            <a:spLocks noChangeArrowheads="1"/>
          </p:cNvSpPr>
          <p:nvPr/>
        </p:nvSpPr>
        <p:spPr bwMode="auto">
          <a:xfrm>
            <a:off x="353174" y="956826"/>
            <a:ext cx="8485322" cy="328532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a:lstStyle>
          <a:p>
            <a:pPr algn="just">
              <a:lnSpc>
                <a:spcPct val="150000"/>
              </a:lnSpc>
            </a:pPr>
            <a:r>
              <a:rPr lang="en-US" sz="1400" dirty="0" smtClean="0">
                <a:latin typeface="Times New Roman" pitchFamily="18" charset="0"/>
                <a:cs typeface="Times New Roman" pitchFamily="18" charset="0"/>
              </a:rPr>
              <a:t>Real-time communication has become an essential feature of modern web applications, enabling users to interact instantly across different locations. Chat applications play a significant role in social networking, online collaboration, and customer support systems by providing fast and efficient message exchange. With the growth of web technologies, real-time chat platforms can now be developed using standard front-end tools such as HTML, CSS, and JavaScript. This project aims to design and develop a web-based real-time chat application that allows users to communicate within multiple chat rooms seamlessly. The system uses </a:t>
            </a:r>
            <a:r>
              <a:rPr lang="en-US" sz="1400" dirty="0" err="1" smtClean="0">
                <a:latin typeface="Times New Roman" pitchFamily="18" charset="0"/>
                <a:cs typeface="Times New Roman" pitchFamily="18" charset="0"/>
              </a:rPr>
              <a:t>WebSocket</a:t>
            </a:r>
            <a:r>
              <a:rPr lang="en-US" sz="1400" dirty="0" smtClean="0">
                <a:latin typeface="Times New Roman" pitchFamily="18" charset="0"/>
                <a:cs typeface="Times New Roman" pitchFamily="18" charset="0"/>
              </a:rPr>
              <a:t> technology to ensure instant message delivery without the need for page refreshes. Users must authenticate themselves by choosing a unique username before joining a chat room, which helps maintain secure and identifiable communication. The application supports features such as message timestamps, sender identification, and basic text formatting to enhance usability. A responsive and user-friendly interface ensures smooth interaction across various devices. The system also manages chat room creation, user joining, and disconnection handling effectively. </a:t>
            </a:r>
            <a:endParaRPr lang="en-US" sz="1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FDB586D3-DB72-8143-8952-E02333FE6369}"/>
              </a:ext>
            </a:extLst>
          </p:cNvPr>
          <p:cNvSpPr>
            <a:spLocks noGrp="1"/>
          </p:cNvSpPr>
          <p:nvPr>
            <p:ph type="sldNum" sz="quarter" idx="12"/>
          </p:nvPr>
        </p:nvSpPr>
        <p:spPr/>
        <p:txBody>
          <a:bodyPr>
            <a:normAutofit/>
          </a:bodyPr>
          <a:lstStyle/>
          <a:p>
            <a:pPr lvl="0"/>
            <a:fld id="{00000000-1234-1234-1234-123412341234}" type="slidenum">
              <a:rPr lang="en" smtClean="0"/>
              <a:pPr lvl="0"/>
              <a:t>5</a:t>
            </a:fld>
            <a:endParaRPr lang="en"/>
          </a:p>
        </p:txBody>
      </p:sp>
      <p:sp>
        <p:nvSpPr>
          <p:cNvPr id="98" name="Google Shape;98;p17"/>
          <p:cNvSpPr txBox="1">
            <a:spLocks noGrp="1"/>
          </p:cNvSpPr>
          <p:nvPr>
            <p:ph type="title" idx="4294967295"/>
          </p:nvPr>
        </p:nvSpPr>
        <p:spPr>
          <a:xfrm>
            <a:off x="373380" y="319088"/>
            <a:ext cx="6065520" cy="665162"/>
          </a:xfrm>
          <a:prstGeom prst="rect">
            <a:avLst/>
          </a:prstGeom>
        </p:spPr>
        <p:txBody>
          <a:bodyPr spcFirstLastPara="1" wrap="square" lIns="91425" tIns="91425" rIns="91425" bIns="91425" anchor="t" anchorCtr="0">
            <a:noAutofit/>
          </a:bodyPr>
          <a:lstStyle/>
          <a:p>
            <a:pPr lvl="0">
              <a:spcBef>
                <a:spcPts val="0"/>
              </a:spcBef>
              <a:spcAft>
                <a:spcPts val="1600"/>
              </a:spcAft>
            </a:pPr>
            <a:r>
              <a:rPr lang="en-IN" sz="4000" dirty="0" smtClean="0">
                <a:solidFill>
                  <a:schemeClr val="tx1"/>
                </a:solidFill>
                <a:latin typeface="Times New Roman" pitchFamily="18" charset="0"/>
                <a:cs typeface="Times New Roman" pitchFamily="18" charset="0"/>
              </a:rPr>
              <a:t>Proposed</a:t>
            </a:r>
            <a:r>
              <a:rPr lang="en-IN" sz="4000" b="0" dirty="0" smtClean="0">
                <a:solidFill>
                  <a:schemeClr val="tx1"/>
                </a:solidFill>
                <a:latin typeface="Times New Roman" pitchFamily="18" charset="0"/>
                <a:cs typeface="Times New Roman" pitchFamily="18" charset="0"/>
              </a:rPr>
              <a:t> Method</a:t>
            </a:r>
            <a:endParaRPr sz="4000" b="0" dirty="0">
              <a:latin typeface="Times New Roman" panose="02020603050405020304" pitchFamily="18" charset="0"/>
              <a:cs typeface="Times New Roman" panose="02020603050405020304" pitchFamily="18" charset="0"/>
            </a:endParaRPr>
          </a:p>
        </p:txBody>
      </p:sp>
      <p:sp>
        <p:nvSpPr>
          <p:cNvPr id="13" name="Rectangle 12"/>
          <p:cNvSpPr/>
          <p:nvPr/>
        </p:nvSpPr>
        <p:spPr>
          <a:xfrm>
            <a:off x="374073" y="1052946"/>
            <a:ext cx="8409710" cy="3931654"/>
          </a:xfrm>
          <a:prstGeom prst="rect">
            <a:avLst/>
          </a:prstGeom>
        </p:spPr>
        <p:txBody>
          <a:bodyPr wrap="square">
            <a:spAutoFit/>
          </a:bodyPr>
          <a:lstStyle/>
          <a:p>
            <a:pPr algn="just">
              <a:lnSpc>
                <a:spcPct val="150000"/>
              </a:lnSpc>
            </a:pPr>
            <a:r>
              <a:rPr lang="en-US" sz="1400" dirty="0" smtClean="0">
                <a:latin typeface="Times New Roman" pitchFamily="18" charset="0"/>
                <a:cs typeface="Times New Roman" pitchFamily="18" charset="0"/>
              </a:rPr>
              <a:t>The proposed system follows a modular and client-server based architecture to implement a real-time chat application. Initially, the user accesses the web application through a browser and is prompted to enter a unique username for authentication. The system validates the username to prevent duplication and impersonation before allowing the user to proceed. Once authenticated, the user can view a list of available chat rooms or create a new room as required. When a user joins a chat room, a </a:t>
            </a:r>
            <a:r>
              <a:rPr lang="en-US" sz="1400" dirty="0" err="1" smtClean="0">
                <a:latin typeface="Times New Roman" pitchFamily="18" charset="0"/>
                <a:cs typeface="Times New Roman" pitchFamily="18" charset="0"/>
              </a:rPr>
              <a:t>WebSocket</a:t>
            </a:r>
            <a:r>
              <a:rPr lang="en-US" sz="1400" dirty="0" smtClean="0">
                <a:latin typeface="Times New Roman" pitchFamily="18" charset="0"/>
                <a:cs typeface="Times New Roman" pitchFamily="18" charset="0"/>
              </a:rPr>
              <a:t> connection is established between the client and the server to enable real-time communication. Messages typed by the user are validated to avoid empty or malicious inputs and then transmitted instantly to all connected users within the same room. Each message is displayed along with the sender’s username and timestamp to maintain message clarity. Basic text formatting features are applied using client-side scripting for enhanced readability. The system automatically handles scrolling to display new messages and notifies users of new activity. User join and disconnect events are monitored to update room participants dynamically. Security measures such as input sanitization and session handling are implemented to protect user data.</a:t>
            </a:r>
            <a:endParaRPr lang="en-US" sz="14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61412B3B-BA4A-8D75-E17B-AA6ABD86B817}"/>
              </a:ext>
            </a:extLst>
          </p:cNvPr>
          <p:cNvSpPr>
            <a:spLocks noGrp="1"/>
          </p:cNvSpPr>
          <p:nvPr>
            <p:ph type="sldNum" sz="quarter" idx="12"/>
          </p:nvPr>
        </p:nvSpPr>
        <p:spPr/>
        <p:txBody>
          <a:bodyPr>
            <a:normAutofit/>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6</a:t>
            </a:fld>
            <a:endParaRPr lang="en"/>
          </a:p>
        </p:txBody>
      </p:sp>
      <p:sp>
        <p:nvSpPr>
          <p:cNvPr id="104" name="Google Shape;104;p18"/>
          <p:cNvSpPr txBox="1">
            <a:spLocks noGrp="1"/>
          </p:cNvSpPr>
          <p:nvPr>
            <p:ph type="title" idx="4294967295"/>
          </p:nvPr>
        </p:nvSpPr>
        <p:spPr>
          <a:xfrm>
            <a:off x="0" y="147638"/>
            <a:ext cx="5623560" cy="85725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4000" dirty="0" smtClean="0">
                <a:solidFill>
                  <a:schemeClr val="tx1"/>
                </a:solidFill>
                <a:latin typeface="Times New Roman" panose="02020603050405020304" pitchFamily="18" charset="0"/>
                <a:cs typeface="Times New Roman" panose="02020603050405020304" pitchFamily="18" charset="0"/>
              </a:rPr>
              <a:t>      Flow Diagram</a:t>
            </a:r>
            <a:r>
              <a:rPr lang="en" sz="4000" dirty="0">
                <a:solidFill>
                  <a:schemeClr val="tx1"/>
                </a:solidFill>
                <a:latin typeface="Times New Roman" panose="02020603050405020304" pitchFamily="18" charset="0"/>
                <a:cs typeface="Times New Roman" panose="02020603050405020304" pitchFamily="18" charset="0"/>
              </a:rPr>
              <a:t/>
            </a:r>
            <a:br>
              <a:rPr lang="en" sz="4000" dirty="0">
                <a:solidFill>
                  <a:schemeClr val="tx1"/>
                </a:solidFill>
                <a:latin typeface="Times New Roman" panose="02020603050405020304" pitchFamily="18" charset="0"/>
                <a:cs typeface="Times New Roman" panose="02020603050405020304" pitchFamily="18" charset="0"/>
              </a:rPr>
            </a:br>
            <a:endParaRPr sz="4000" dirty="0">
              <a:solidFill>
                <a:schemeClr val="tx1"/>
              </a:solidFill>
              <a:latin typeface="Times New Roman" panose="02020603050405020304" pitchFamily="18" charset="0"/>
              <a:cs typeface="Times New Roman" panose="02020603050405020304" pitchFamily="18" charset="0"/>
            </a:endParaRPr>
          </a:p>
        </p:txBody>
      </p:sp>
      <p:sp>
        <p:nvSpPr>
          <p:cNvPr id="26626" name="AutoShape 2" descr="Generated imag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28" name="AutoShape 4" descr="Generated imag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6630" name="AutoShape 6" descr="Generated imag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42" name="AutoShape 2" descr="Generated imag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 name="Picture 9" descr="ChatGPT Image Feb 9, 2026, 10_04_18 PM.png"/>
          <p:cNvPicPr>
            <a:picLocks noChangeAspect="1"/>
          </p:cNvPicPr>
          <p:nvPr/>
        </p:nvPicPr>
        <p:blipFill>
          <a:blip r:embed="rId3"/>
          <a:stretch>
            <a:fillRect/>
          </a:stretch>
        </p:blipFill>
        <p:spPr>
          <a:xfrm>
            <a:off x="922020" y="1051560"/>
            <a:ext cx="6865620" cy="3787140"/>
          </a:xfrm>
          <a:prstGeom prst="rect">
            <a:avLst/>
          </a:prstGeom>
        </p:spPr>
      </p:pic>
    </p:spTree>
    <p:extLst>
      <p:ext uri="{BB962C8B-B14F-4D97-AF65-F5344CB8AC3E}">
        <p14:creationId xmlns:p14="http://schemas.microsoft.com/office/powerpoint/2010/main" xmlns="" val="35795171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7</a:t>
            </a:fld>
            <a:endParaRPr lang="en"/>
          </a:p>
        </p:txBody>
      </p:sp>
      <p:sp>
        <p:nvSpPr>
          <p:cNvPr id="5" name="Rectangle 4"/>
          <p:cNvSpPr/>
          <p:nvPr/>
        </p:nvSpPr>
        <p:spPr>
          <a:xfrm>
            <a:off x="893617" y="343538"/>
            <a:ext cx="3519055" cy="707886"/>
          </a:xfrm>
          <a:prstGeom prst="rect">
            <a:avLst/>
          </a:prstGeom>
        </p:spPr>
        <p:txBody>
          <a:bodyPr wrap="square">
            <a:spAutoFit/>
          </a:bodyPr>
          <a:lstStyle/>
          <a:p>
            <a:r>
              <a:rPr lang="en-IN" sz="4000" b="1" dirty="0" smtClean="0">
                <a:latin typeface="Times New Roman" pitchFamily="18" charset="0"/>
                <a:cs typeface="Times New Roman" pitchFamily="18" charset="0"/>
              </a:rPr>
              <a:t>Tools Used </a:t>
            </a:r>
            <a:endParaRPr lang="en-US" sz="4000" b="1" dirty="0"/>
          </a:p>
        </p:txBody>
      </p:sp>
      <p:sp>
        <p:nvSpPr>
          <p:cNvPr id="10" name="TextBox 9"/>
          <p:cNvSpPr txBox="1"/>
          <p:nvPr/>
        </p:nvSpPr>
        <p:spPr>
          <a:xfrm>
            <a:off x="1018309" y="914400"/>
            <a:ext cx="3906982" cy="4108817"/>
          </a:xfrm>
          <a:prstGeom prst="rect">
            <a:avLst/>
          </a:prstGeom>
          <a:noFill/>
        </p:spPr>
        <p:txBody>
          <a:bodyPr wrap="square" rtlCol="0">
            <a:spAutoFit/>
          </a:bodyPr>
          <a:lstStyle/>
          <a:p>
            <a:pPr>
              <a:lnSpc>
                <a:spcPct val="150000"/>
              </a:lnSpc>
            </a:pPr>
            <a:r>
              <a:rPr lang="en-US" sz="2000" b="1" dirty="0" smtClean="0">
                <a:latin typeface="Times New Roman" pitchFamily="18" charset="0"/>
                <a:cs typeface="Times New Roman" pitchFamily="18" charset="0"/>
              </a:rPr>
              <a:t>Software Tools</a:t>
            </a:r>
          </a:p>
          <a:p>
            <a:pPr>
              <a:lnSpc>
                <a:spcPct val="150000"/>
              </a:lnSpc>
            </a:pPr>
            <a:r>
              <a:rPr lang="en-US" sz="1400" b="1" dirty="0" smtClean="0">
                <a:latin typeface="Times New Roman" pitchFamily="18" charset="0"/>
                <a:cs typeface="Times New Roman" pitchFamily="18" charset="0"/>
              </a:rPr>
              <a:t>Programming Languages:</a:t>
            </a:r>
            <a:r>
              <a:rPr lang="en-US" sz="1400" dirty="0" smtClean="0">
                <a:latin typeface="Times New Roman" pitchFamily="18" charset="0"/>
                <a:cs typeface="Times New Roman" pitchFamily="18" charset="0"/>
              </a:rPr>
              <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HTML, CSS, JavaScript</a:t>
            </a:r>
          </a:p>
          <a:p>
            <a:pPr>
              <a:lnSpc>
                <a:spcPct val="150000"/>
              </a:lnSpc>
            </a:pPr>
            <a:r>
              <a:rPr lang="en-US" sz="1400" b="1" dirty="0" smtClean="0">
                <a:latin typeface="Times New Roman" pitchFamily="18" charset="0"/>
                <a:cs typeface="Times New Roman" pitchFamily="18" charset="0"/>
              </a:rPr>
              <a:t>Backend &amp; Database:</a:t>
            </a:r>
            <a:r>
              <a:rPr lang="en-US" sz="1400" dirty="0" smtClean="0">
                <a:latin typeface="Times New Roman" pitchFamily="18" charset="0"/>
                <a:cs typeface="Times New Roman" pitchFamily="18" charset="0"/>
              </a:rPr>
              <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Firebase Authentication, Firebase </a:t>
            </a:r>
            <a:r>
              <a:rPr lang="en-US" sz="1400" dirty="0" err="1" smtClean="0">
                <a:latin typeface="Times New Roman" pitchFamily="18" charset="0"/>
                <a:cs typeface="Times New Roman" pitchFamily="18" charset="0"/>
              </a:rPr>
              <a:t>Firestore</a:t>
            </a:r>
            <a:endParaRPr lang="en-US" sz="1400" dirty="0" smtClean="0">
              <a:latin typeface="Times New Roman" pitchFamily="18" charset="0"/>
              <a:cs typeface="Times New Roman" pitchFamily="18" charset="0"/>
            </a:endParaRPr>
          </a:p>
          <a:p>
            <a:pPr>
              <a:lnSpc>
                <a:spcPct val="150000"/>
              </a:lnSpc>
            </a:pPr>
            <a:r>
              <a:rPr lang="en-US" sz="1400" b="1" dirty="0" smtClean="0">
                <a:latin typeface="Times New Roman" pitchFamily="18" charset="0"/>
                <a:cs typeface="Times New Roman" pitchFamily="18" charset="0"/>
              </a:rPr>
              <a:t>Development Tools:</a:t>
            </a:r>
            <a:r>
              <a:rPr lang="en-US" sz="1400" dirty="0" smtClean="0">
                <a:latin typeface="Times New Roman" pitchFamily="18" charset="0"/>
                <a:cs typeface="Times New Roman" pitchFamily="18" charset="0"/>
              </a:rPr>
              <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Visual Studio Code, Web Browser (Chrome/Firefox)</a:t>
            </a:r>
          </a:p>
          <a:p>
            <a:pPr>
              <a:lnSpc>
                <a:spcPct val="150000"/>
              </a:lnSpc>
            </a:pPr>
            <a:r>
              <a:rPr lang="en-US" sz="1400" b="1" dirty="0" smtClean="0">
                <a:latin typeface="Times New Roman" pitchFamily="18" charset="0"/>
                <a:cs typeface="Times New Roman" pitchFamily="18" charset="0"/>
              </a:rPr>
              <a:t>Version Control:</a:t>
            </a:r>
            <a:r>
              <a:rPr lang="en-US" sz="1400" dirty="0" smtClean="0">
                <a:latin typeface="Times New Roman" pitchFamily="18" charset="0"/>
                <a:cs typeface="Times New Roman" pitchFamily="18" charset="0"/>
              </a:rPr>
              <a:t/>
            </a:r>
            <a:br>
              <a:rPr lang="en-US" sz="1400" dirty="0" smtClean="0">
                <a:latin typeface="Times New Roman" pitchFamily="18" charset="0"/>
                <a:cs typeface="Times New Roman" pitchFamily="18" charset="0"/>
              </a:rPr>
            </a:br>
            <a:r>
              <a:rPr lang="en-US" sz="1400" dirty="0" err="1" smtClean="0">
                <a:latin typeface="Times New Roman" pitchFamily="18" charset="0"/>
                <a:cs typeface="Times New Roman" pitchFamily="18" charset="0"/>
              </a:rPr>
              <a:t>GitHub</a:t>
            </a:r>
            <a:endParaRPr lang="en-US" sz="1400" dirty="0" smtClean="0">
              <a:latin typeface="Times New Roman" pitchFamily="18" charset="0"/>
              <a:cs typeface="Times New Roman" pitchFamily="18" charset="0"/>
            </a:endParaRPr>
          </a:p>
          <a:p>
            <a:pPr>
              <a:lnSpc>
                <a:spcPct val="150000"/>
              </a:lnSpc>
            </a:pPr>
            <a:r>
              <a:rPr lang="en-US" sz="1400" b="1" dirty="0" smtClean="0">
                <a:latin typeface="Times New Roman" pitchFamily="18" charset="0"/>
                <a:cs typeface="Times New Roman" pitchFamily="18" charset="0"/>
              </a:rPr>
              <a:t>Operating System:</a:t>
            </a:r>
            <a:r>
              <a:rPr lang="en-US" sz="1400" dirty="0" smtClean="0">
                <a:latin typeface="Times New Roman" pitchFamily="18" charset="0"/>
                <a:cs typeface="Times New Roman" pitchFamily="18" charset="0"/>
              </a:rPr>
              <a:t/>
            </a:r>
            <a:br>
              <a:rPr lang="en-US" sz="1400" dirty="0" smtClean="0">
                <a:latin typeface="Times New Roman" pitchFamily="18" charset="0"/>
                <a:cs typeface="Times New Roman" pitchFamily="18" charset="0"/>
              </a:rPr>
            </a:br>
            <a:r>
              <a:rPr lang="en-US" sz="1400" dirty="0" smtClean="0">
                <a:latin typeface="Times New Roman" pitchFamily="18" charset="0"/>
                <a:cs typeface="Times New Roman" pitchFamily="18" charset="0"/>
              </a:rPr>
              <a:t>Windows / Linux</a:t>
            </a:r>
            <a:endParaRPr lang="en-US" sz="1400" dirty="0">
              <a:latin typeface="Times New Roman" pitchFamily="18" charset="0"/>
              <a:cs typeface="Times New Roman" pitchFamily="18" charset="0"/>
            </a:endParaRPr>
          </a:p>
        </p:txBody>
      </p:sp>
      <p:sp>
        <p:nvSpPr>
          <p:cNvPr id="11" name="TextBox 10"/>
          <p:cNvSpPr txBox="1"/>
          <p:nvPr/>
        </p:nvSpPr>
        <p:spPr>
          <a:xfrm>
            <a:off x="5174673" y="1101436"/>
            <a:ext cx="2541530" cy="1800493"/>
          </a:xfrm>
          <a:prstGeom prst="rect">
            <a:avLst/>
          </a:prstGeom>
          <a:noFill/>
        </p:spPr>
        <p:txBody>
          <a:bodyPr wrap="square" rtlCol="0">
            <a:spAutoFit/>
          </a:bodyPr>
          <a:lstStyle/>
          <a:p>
            <a:pPr>
              <a:lnSpc>
                <a:spcPct val="150000"/>
              </a:lnSpc>
            </a:pPr>
            <a:r>
              <a:rPr lang="en-US" sz="2000" b="1" dirty="0" smtClean="0">
                <a:latin typeface="Times New Roman" pitchFamily="18" charset="0"/>
                <a:cs typeface="Times New Roman" pitchFamily="18" charset="0"/>
              </a:rPr>
              <a:t>Hardware Tools</a:t>
            </a:r>
          </a:p>
          <a:p>
            <a:pPr>
              <a:lnSpc>
                <a:spcPct val="150000"/>
              </a:lnSpc>
            </a:pPr>
            <a:r>
              <a:rPr lang="en-US" sz="1400" dirty="0" smtClean="0">
                <a:latin typeface="Times New Roman" pitchFamily="18" charset="0"/>
                <a:cs typeface="Times New Roman" pitchFamily="18" charset="0"/>
              </a:rPr>
              <a:t>Processor: AMD </a:t>
            </a:r>
            <a:r>
              <a:rPr lang="en-US" sz="1400" dirty="0" err="1" smtClean="0">
                <a:latin typeface="Times New Roman" pitchFamily="18" charset="0"/>
                <a:cs typeface="Times New Roman" pitchFamily="18" charset="0"/>
              </a:rPr>
              <a:t>Ryzen</a:t>
            </a:r>
            <a:r>
              <a:rPr lang="en-US" sz="1400" dirty="0" smtClean="0">
                <a:latin typeface="Times New Roman" pitchFamily="18" charset="0"/>
                <a:cs typeface="Times New Roman" pitchFamily="18" charset="0"/>
              </a:rPr>
              <a:t> 5</a:t>
            </a:r>
          </a:p>
          <a:p>
            <a:pPr>
              <a:lnSpc>
                <a:spcPct val="150000"/>
              </a:lnSpc>
            </a:pPr>
            <a:r>
              <a:rPr lang="en-US" sz="1400" dirty="0" smtClean="0">
                <a:latin typeface="Times New Roman" pitchFamily="18" charset="0"/>
                <a:cs typeface="Times New Roman" pitchFamily="18" charset="0"/>
              </a:rPr>
              <a:t> RAM: 8GB </a:t>
            </a:r>
          </a:p>
          <a:p>
            <a:pPr>
              <a:lnSpc>
                <a:spcPct val="150000"/>
              </a:lnSpc>
            </a:pPr>
            <a:r>
              <a:rPr lang="en-US" sz="1400" dirty="0" smtClean="0">
                <a:latin typeface="Times New Roman" pitchFamily="18" charset="0"/>
                <a:cs typeface="Times New Roman" pitchFamily="18" charset="0"/>
              </a:rPr>
              <a:t>Storage: 477GB </a:t>
            </a:r>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8</a:t>
            </a:fld>
            <a:endParaRPr lang="en"/>
          </a:p>
        </p:txBody>
      </p:sp>
      <p:sp>
        <p:nvSpPr>
          <p:cNvPr id="5" name="Rectangle 4"/>
          <p:cNvSpPr/>
          <p:nvPr/>
        </p:nvSpPr>
        <p:spPr>
          <a:xfrm>
            <a:off x="602672" y="489010"/>
            <a:ext cx="4994564" cy="707886"/>
          </a:xfrm>
          <a:prstGeom prst="rect">
            <a:avLst/>
          </a:prstGeom>
        </p:spPr>
        <p:txBody>
          <a:bodyPr wrap="square">
            <a:spAutoFit/>
          </a:bodyPr>
          <a:lstStyle/>
          <a:p>
            <a:r>
              <a:rPr lang="en-IN" sz="4000" b="1" dirty="0" smtClean="0">
                <a:latin typeface="Times New Roman" pitchFamily="18" charset="0"/>
                <a:cs typeface="Times New Roman" pitchFamily="18" charset="0"/>
              </a:rPr>
              <a:t>Expected Output</a:t>
            </a:r>
            <a:endParaRPr lang="en-US" sz="4000" b="1" dirty="0"/>
          </a:p>
        </p:txBody>
      </p:sp>
      <p:sp>
        <p:nvSpPr>
          <p:cNvPr id="6" name="Rectangle 5"/>
          <p:cNvSpPr/>
          <p:nvPr/>
        </p:nvSpPr>
        <p:spPr>
          <a:xfrm>
            <a:off x="554181" y="1253835"/>
            <a:ext cx="7890163" cy="3289427"/>
          </a:xfrm>
          <a:prstGeom prst="rect">
            <a:avLst/>
          </a:prstGeom>
        </p:spPr>
        <p:txBody>
          <a:bodyPr wrap="square">
            <a:spAutoFit/>
          </a:bodyPr>
          <a:lstStyle/>
          <a:p>
            <a:pPr algn="just">
              <a:lnSpc>
                <a:spcPct val="150000"/>
              </a:lnSpc>
            </a:pPr>
            <a:r>
              <a:rPr lang="en-US" sz="1400" dirty="0" smtClean="0">
                <a:latin typeface="Times New Roman" pitchFamily="18" charset="0"/>
                <a:cs typeface="Times New Roman" pitchFamily="18" charset="0"/>
              </a:rPr>
              <a:t>The expected output of the real-time chat application is a fully functional web-based platform that allows users to communicate instantly within chat rooms. When the application is launched, users will be prompted to enter a unique username before accessing the chat interface. After successful authentication, users can view a list of available chat rooms and create new rooms if required. Upon joining a chat room, users will be able to send and receive text messages in real time without refreshing the page. Each message will be displayed with the sender’s username and timestamp for better clarity. The chat interface will automatically scroll to show the latest messages. Basic text formatting such as bold, italics, and clickable links will be supported within messages. Notifications will appear when new users join or leave a chat room. The system will prevent empty messages and duplicate usernames. The user interface will be responsive and visually appealing across different devices. </a:t>
            </a:r>
            <a:endParaRPr lang="en-US" sz="1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9545" y="363266"/>
            <a:ext cx="7772400" cy="685800"/>
          </a:xfrm>
        </p:spPr>
        <p:txBody>
          <a:bodyPr>
            <a:normAutofit/>
          </a:bodyPr>
          <a:lstStyle/>
          <a:p>
            <a:r>
              <a:rPr lang="en-US" sz="4000" dirty="0" smtClean="0">
                <a:solidFill>
                  <a:schemeClr val="tx1"/>
                </a:solidFill>
                <a:latin typeface="Times New Roman" pitchFamily="18" charset="0"/>
                <a:cs typeface="Times New Roman" pitchFamily="18" charset="0"/>
              </a:rPr>
              <a:t>Output Screenshots</a:t>
            </a:r>
            <a:endParaRPr lang="en-US" sz="4000" dirty="0">
              <a:solidFill>
                <a:schemeClr val="tx1"/>
              </a:solidFill>
              <a:latin typeface="Times New Roman" pitchFamily="18" charset="0"/>
              <a:cs typeface="Times New Roman" pitchFamily="18" charset="0"/>
            </a:endParaRPr>
          </a:p>
        </p:txBody>
      </p:sp>
      <p:pic>
        <p:nvPicPr>
          <p:cNvPr id="9" name="Picture 2"/>
          <p:cNvPicPr>
            <a:picLocks noGrp="1" noChangeAspect="1" noChangeArrowheads="1"/>
          </p:cNvPicPr>
          <p:nvPr>
            <p:ph idx="1"/>
          </p:nvPr>
        </p:nvPicPr>
        <p:blipFill>
          <a:blip r:embed="rId2"/>
          <a:srcRect/>
          <a:stretch>
            <a:fillRect/>
          </a:stretch>
        </p:blipFill>
        <p:spPr bwMode="auto">
          <a:xfrm>
            <a:off x="868101" y="1349838"/>
            <a:ext cx="7812912" cy="3429000"/>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normAutofit/>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9</a:t>
            </a:fld>
            <a:endParaRPr lang="e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solidFill>
                  <a:schemeClr val="tx1"/>
                </a:solidFill>
                <a:latin typeface="Times New Roman" pitchFamily="18" charset="0"/>
                <a:cs typeface="Times New Roman" pitchFamily="18" charset="0"/>
              </a:rPr>
              <a:t>Output Screenshot</a:t>
            </a:r>
            <a:endParaRPr lang="en-US" sz="4000" dirty="0">
              <a:solidFill>
                <a:schemeClr val="tx1"/>
              </a:solidFill>
              <a:latin typeface="Times New Roman" pitchFamily="18" charset="0"/>
              <a:cs typeface="Times New Roman" pitchFamily="18" charset="0"/>
            </a:endParaRPr>
          </a:p>
        </p:txBody>
      </p:sp>
      <p:pic>
        <p:nvPicPr>
          <p:cNvPr id="2050" name="Picture 2"/>
          <p:cNvPicPr>
            <a:picLocks noGrp="1" noChangeAspect="1" noChangeArrowheads="1"/>
          </p:cNvPicPr>
          <p:nvPr>
            <p:ph idx="1"/>
          </p:nvPr>
        </p:nvPicPr>
        <p:blipFill>
          <a:blip r:embed="rId2"/>
          <a:srcRect/>
          <a:stretch>
            <a:fillRect/>
          </a:stretch>
        </p:blipFill>
        <p:spPr bwMode="auto">
          <a:xfrm>
            <a:off x="1088020" y="1338263"/>
            <a:ext cx="7315200" cy="3429000"/>
          </a:xfrm>
          <a:prstGeom prst="rect">
            <a:avLst/>
          </a:prstGeom>
          <a:noFill/>
          <a:ln w="9525">
            <a:noFill/>
            <a:miter lim="800000"/>
            <a:headEnd/>
            <a:tailEnd/>
          </a:ln>
          <a:effectLst/>
        </p:spPr>
      </p:pic>
      <p:sp>
        <p:nvSpPr>
          <p:cNvPr id="6" name="Slide Number Placeholder 5"/>
          <p:cNvSpPr>
            <a:spLocks noGrp="1"/>
          </p:cNvSpPr>
          <p:nvPr>
            <p:ph type="sldNum" sz="quarter" idx="12"/>
          </p:nvPr>
        </p:nvSpPr>
        <p:spPr/>
        <p:txBody>
          <a:bodyPr>
            <a:normAutofit/>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10</a:t>
            </a:fld>
            <a:endParaRPr lang="e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xmlns="" id="{6457A543-5E9B-F838-4E4C-30AD8342F661}"/>
              </a:ext>
            </a:extLst>
          </p:cNvPr>
          <p:cNvSpPr>
            <a:spLocks noGrp="1"/>
          </p:cNvSpPr>
          <p:nvPr>
            <p:ph type="sldNum" sz="quarter" idx="12"/>
          </p:nvPr>
        </p:nvSpPr>
        <p:spPr/>
        <p:txBody>
          <a:bodyPr>
            <a:normAutofit/>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11</a:t>
            </a:fld>
            <a:endParaRPr lang="en"/>
          </a:p>
        </p:txBody>
      </p:sp>
      <p:sp>
        <p:nvSpPr>
          <p:cNvPr id="110" name="Google Shape;110;p19"/>
          <p:cNvSpPr txBox="1">
            <a:spLocks noGrp="1"/>
          </p:cNvSpPr>
          <p:nvPr>
            <p:ph type="title" idx="4294967295"/>
          </p:nvPr>
        </p:nvSpPr>
        <p:spPr>
          <a:xfrm>
            <a:off x="441960" y="292100"/>
            <a:ext cx="4008120" cy="830263"/>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4000" dirty="0" smtClean="0">
                <a:solidFill>
                  <a:schemeClr val="tx1"/>
                </a:solidFill>
                <a:latin typeface="Times New Roman" panose="02020603050405020304" pitchFamily="18" charset="0"/>
                <a:cs typeface="Times New Roman" panose="02020603050405020304" pitchFamily="18" charset="0"/>
              </a:rPr>
              <a:t>Conclusion</a:t>
            </a:r>
            <a:endParaRPr sz="4000" dirty="0">
              <a:solidFill>
                <a:schemeClr val="tx1"/>
              </a:solidFill>
              <a:latin typeface="Times New Roman" panose="02020603050405020304" pitchFamily="18" charset="0"/>
              <a:cs typeface="Times New Roman" panose="02020603050405020304" pitchFamily="18" charset="0"/>
            </a:endParaRPr>
          </a:p>
        </p:txBody>
      </p:sp>
      <p:sp>
        <p:nvSpPr>
          <p:cNvPr id="7" name="Rectangle 6"/>
          <p:cNvSpPr/>
          <p:nvPr/>
        </p:nvSpPr>
        <p:spPr>
          <a:xfrm>
            <a:off x="547255" y="1184564"/>
            <a:ext cx="7994072" cy="3289427"/>
          </a:xfrm>
          <a:prstGeom prst="rect">
            <a:avLst/>
          </a:prstGeom>
        </p:spPr>
        <p:txBody>
          <a:bodyPr wrap="square">
            <a:spAutoFit/>
          </a:bodyPr>
          <a:lstStyle/>
          <a:p>
            <a:pPr algn="just">
              <a:lnSpc>
                <a:spcPct val="150000"/>
              </a:lnSpc>
            </a:pPr>
            <a:r>
              <a:rPr lang="en-US" sz="1400" dirty="0" smtClean="0">
                <a:latin typeface="Times New Roman" pitchFamily="18" charset="0"/>
                <a:cs typeface="Times New Roman" pitchFamily="18" charset="0"/>
              </a:rPr>
              <a:t>The real-time chat application successfully demonstrates the implementation of instant communication using modern web technologies. By integrating HTML, CSS, and JavaScript with </a:t>
            </a:r>
            <a:r>
              <a:rPr lang="en-US" sz="1400" dirty="0" err="1" smtClean="0">
                <a:latin typeface="Times New Roman" pitchFamily="18" charset="0"/>
                <a:cs typeface="Times New Roman" pitchFamily="18" charset="0"/>
              </a:rPr>
              <a:t>WebSocket</a:t>
            </a:r>
            <a:r>
              <a:rPr lang="en-US" sz="1400" dirty="0" smtClean="0">
                <a:latin typeface="Times New Roman" pitchFamily="18" charset="0"/>
                <a:cs typeface="Times New Roman" pitchFamily="18" charset="0"/>
              </a:rPr>
              <a:t> communication, the system enables users to exchange messages without page refreshes. The application provides secure user authentication by enforcing unique usernames, preventing impersonation. Features such as chat room creation, room selection, and real-time message updates enhance user interaction. Message timestamps and sender identification improve clarity and communication transparency. Basic text formatting options increase message readability and usability. The responsive and intuitive user interface ensures accessibility across different devices and screen sizes. The system efficiently handles user joining and disconnection events. Edge cases like empty messages and invalid inputs are managed effectively. Security and data validation measures help protect user information. </a:t>
            </a:r>
            <a:endParaRPr lang="en-US" sz="1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normAutofit/>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12</a:t>
            </a:fld>
            <a:endParaRPr lang="en"/>
          </a:p>
        </p:txBody>
      </p:sp>
      <p:sp>
        <p:nvSpPr>
          <p:cNvPr id="5" name="TextBox 4"/>
          <p:cNvSpPr txBox="1"/>
          <p:nvPr/>
        </p:nvSpPr>
        <p:spPr>
          <a:xfrm>
            <a:off x="2410691" y="1821872"/>
            <a:ext cx="4024545" cy="707886"/>
          </a:xfrm>
          <a:prstGeom prst="rect">
            <a:avLst/>
          </a:prstGeom>
          <a:noFill/>
        </p:spPr>
        <p:txBody>
          <a:bodyPr wrap="square" rtlCol="0">
            <a:spAutoFit/>
          </a:bodyPr>
          <a:lstStyle/>
          <a:p>
            <a:pPr algn="ctr"/>
            <a:r>
              <a:rPr lang="en-IN" sz="4000" b="1" dirty="0" smtClean="0">
                <a:latin typeface="Times New Roman" pitchFamily="18" charset="0"/>
                <a:cs typeface="Times New Roman" pitchFamily="18" charset="0"/>
              </a:rPr>
              <a:t>THANK  YOU</a:t>
            </a:r>
            <a:endParaRPr lang="en-US" sz="40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1991</TotalTime>
  <Words>975</Words>
  <Application>Microsoft Office PowerPoint</Application>
  <PresentationFormat>On-screen Show (16:9)</PresentationFormat>
  <Paragraphs>50</Paragraphs>
  <Slides>12</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Times New Roman</vt:lpstr>
      <vt:lpstr>Raleway Medium</vt:lpstr>
      <vt:lpstr>Raleway SemiBold</vt:lpstr>
      <vt:lpstr>Trebuchet MS</vt:lpstr>
      <vt:lpstr>Wingdings 2</vt:lpstr>
      <vt:lpstr>Wingdings</vt:lpstr>
      <vt:lpstr>Opulent</vt:lpstr>
      <vt:lpstr>Slide 1</vt:lpstr>
      <vt:lpstr>Slide 2</vt:lpstr>
      <vt:lpstr>Abstract</vt:lpstr>
      <vt:lpstr>Introduction  </vt:lpstr>
      <vt:lpstr>Proposed Method</vt:lpstr>
      <vt:lpstr>      Flow Diagram </vt:lpstr>
      <vt:lpstr>Slide 7</vt:lpstr>
      <vt:lpstr>Slide 8</vt:lpstr>
      <vt:lpstr>Output Screenshots</vt:lpstr>
      <vt:lpstr>Output Screenshot</vt:lpstr>
      <vt:lpstr>Conclusion</vt:lpstr>
      <vt:lpstr>Slide 12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Crime prediction and classification: A deep learning approach with Bi-LSTM and Social Media Analytics</dc:title>
  <dc:creator>gowri ramasamy</dc:creator>
  <cp:lastModifiedBy>gowri ramasamy</cp:lastModifiedBy>
  <cp:revision>99</cp:revision>
  <dcterms:modified xsi:type="dcterms:W3CDTF">2026-02-09T16:43:56Z</dcterms:modified>
</cp:coreProperties>
</file>